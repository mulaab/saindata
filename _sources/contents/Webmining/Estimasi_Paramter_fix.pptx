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5"/>
  </p:notesMasterIdLst>
  <p:sldIdLst>
    <p:sldId id="256" r:id="rId2"/>
    <p:sldId id="276" r:id="rId3"/>
    <p:sldId id="257" r:id="rId4"/>
    <p:sldId id="258" r:id="rId5"/>
    <p:sldId id="262" r:id="rId6"/>
    <p:sldId id="259" r:id="rId7"/>
    <p:sldId id="261" r:id="rId8"/>
    <p:sldId id="263" r:id="rId9"/>
    <p:sldId id="269" r:id="rId10"/>
    <p:sldId id="280" r:id="rId11"/>
    <p:sldId id="270" r:id="rId12"/>
    <p:sldId id="267" r:id="rId13"/>
    <p:sldId id="27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B1F6A-A4BD-4DE4-92E1-594DC0484EBF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8AE983-3626-49FE-BCFF-B5B5E4DA4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7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974949C5-9FD1-4551-A721-1327D36DDFAE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26FA87B-CBA3-402C-A7AC-5322150DC6E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74949C5-9FD1-4551-A721-1327D36DDFAE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26FA87B-CBA3-402C-A7AC-5322150DC6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974949C5-9FD1-4551-A721-1327D36DDFAE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26FA87B-CBA3-402C-A7AC-5322150DC6E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74949C5-9FD1-4551-A721-1327D36DDFAE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026FA87B-CBA3-402C-A7AC-5322150DC6E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74949C5-9FD1-4551-A721-1327D36DDFAE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026FA87B-CBA3-402C-A7AC-5322150DC6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74949C5-9FD1-4551-A721-1327D36DDFAE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26FA87B-CBA3-402C-A7AC-5322150DC6E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74949C5-9FD1-4551-A721-1327D36DDFAE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26FA87B-CBA3-402C-A7AC-5322150DC6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974949C5-9FD1-4551-A721-1327D36DDFAE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26FA87B-CBA3-402C-A7AC-5322150DC6E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974949C5-9FD1-4551-A721-1327D36DDFAE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26FA87B-CBA3-402C-A7AC-5322150DC6E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74949C5-9FD1-4551-A721-1327D36DDFAE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26FA87B-CBA3-402C-A7AC-5322150DC6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74949C5-9FD1-4551-A721-1327D36DDFAE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26FA87B-CBA3-402C-A7AC-5322150DC6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974949C5-9FD1-4551-A721-1327D36DDFAE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026FA87B-CBA3-402C-A7AC-5322150DC6E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Estimasi Parameter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0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sv-SE"/>
              <a:t>Tujuan utama </a:t>
            </a:r>
            <a:r>
              <a:rPr lang="sv-SE" smtClean="0"/>
              <a:t> </a:t>
            </a:r>
            <a:r>
              <a:rPr lang="sv-SE"/>
              <a:t>mengambil sampel dari suatu populasi </a:t>
            </a:r>
            <a:r>
              <a:rPr lang="sv-SE" smtClean="0"/>
              <a:t> </a:t>
            </a:r>
            <a:r>
              <a:rPr lang="sv-SE"/>
              <a:t>untuk </a:t>
            </a:r>
            <a:r>
              <a:rPr lang="sv-SE" smtClean="0"/>
              <a:t>mendapatkan </a:t>
            </a:r>
            <a:r>
              <a:rPr lang="sv-SE"/>
              <a:t>informasi mengenai parameter populasi. </a:t>
            </a:r>
          </a:p>
          <a:p>
            <a:pPr>
              <a:lnSpc>
                <a:spcPct val="90000"/>
              </a:lnSpc>
            </a:pPr>
            <a:r>
              <a:rPr lang="sv-SE" smtClean="0"/>
              <a:t>Karena </a:t>
            </a:r>
            <a:r>
              <a:rPr lang="sv-SE"/>
              <a:t>parameter populasi tidak diketahui, maka dalam statistika inferensia dipelajari bagaimana cara mengetahui parameter tersebut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3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sz="2800" smtClean="0"/>
                  <a:t>Teknik </a:t>
                </a:r>
                <a:r>
                  <a:rPr lang="en-US" sz="2800"/>
                  <a:t>statistika untuk mengetahui </a:t>
                </a:r>
                <a:r>
                  <a:rPr lang="en-US" sz="2800">
                    <a:solidFill>
                      <a:srgbClr val="FFFF00"/>
                    </a:solidFill>
                  </a:rPr>
                  <a:t>parameter </a:t>
                </a:r>
                <a:r>
                  <a:rPr lang="en-US" sz="2800"/>
                  <a:t>dalam </a:t>
                </a:r>
                <a:r>
                  <a:rPr lang="en-US" sz="2800" smtClean="0"/>
                  <a:t>populasi</a:t>
                </a:r>
              </a:p>
              <a:p>
                <a:endParaRPr lang="en-US" sz="3600" smtClean="0"/>
              </a:p>
              <a:p>
                <a:pPr lvl="1">
                  <a:buFont typeface="Wingdings" pitchFamily="2" charset="2"/>
                  <a:buChar char="§"/>
                </a:pPr>
                <a:r>
                  <a:rPr lang="en-US" sz="2800" smtClean="0"/>
                  <a:t>rata-rata </a:t>
                </a:r>
                <a:r>
                  <a:rPr lang="en-US" sz="2800">
                    <a:sym typeface="Symbol"/>
                  </a:rPr>
                  <a:t></a:t>
                </a:r>
                <a:r>
                  <a:rPr lang="en-US" sz="2800"/>
                  <a:t>, </a:t>
                </a:r>
                <a:endParaRPr lang="en-US" sz="2800" smtClean="0"/>
              </a:p>
              <a:p>
                <a:pPr lvl="1">
                  <a:buFont typeface="Wingdings" pitchFamily="2" charset="2"/>
                  <a:buChar char="§"/>
                </a:pPr>
                <a:r>
                  <a:rPr lang="en-US" sz="2800" smtClean="0"/>
                  <a:t>standar </a:t>
                </a:r>
                <a:r>
                  <a:rPr lang="en-US" sz="2800"/>
                  <a:t>deviasi </a:t>
                </a:r>
                <a:r>
                  <a:rPr lang="en-US" sz="2800">
                    <a:sym typeface="Symbol"/>
                  </a:rPr>
                  <a:t></a:t>
                </a:r>
                <a:r>
                  <a:rPr lang="en-US" sz="2800" smtClean="0"/>
                  <a:t>,</a:t>
                </a:r>
              </a:p>
              <a:p>
                <a:pPr lvl="1">
                  <a:buFont typeface="Wingdings" pitchFamily="2" charset="2"/>
                  <a:buChar char="§"/>
                </a:pPr>
                <a:r>
                  <a:rPr lang="en-US" sz="2800" smtClean="0"/>
                  <a:t>proporsi </a:t>
                </a:r>
                <a:r>
                  <a:rPr lang="en-US" sz="2800"/>
                  <a:t>p, </a:t>
                </a:r>
                <a:endParaRPr lang="en-US" sz="2800" smtClean="0"/>
              </a:p>
              <a:p>
                <a:pPr lvl="1">
                  <a:buFont typeface="Wingdings" pitchFamily="2" charset="2"/>
                  <a:buChar char="§"/>
                </a:pPr>
                <a:r>
                  <a:rPr lang="en-US" sz="2800" smtClean="0"/>
                  <a:t>koefisien </a:t>
                </a:r>
                <a:r>
                  <a:rPr lang="en-US" sz="2800"/>
                  <a:t>korelasi </a:t>
                </a:r>
                <a:r>
                  <a:rPr lang="en-US" sz="2800">
                    <a:sym typeface="Symbol"/>
                  </a:rPr>
                  <a:t></a:t>
                </a:r>
                <a:r>
                  <a:rPr lang="en-US" sz="2800"/>
                  <a:t>, dsb) </a:t>
                </a:r>
                <a:endParaRPr lang="en-US" sz="2800" smtClean="0"/>
              </a:p>
              <a:p>
                <a:pPr marL="411480" lvl="1" indent="0">
                  <a:buNone/>
                </a:pPr>
                <a:endParaRPr lang="en-US" sz="2800"/>
              </a:p>
              <a:p>
                <a:r>
                  <a:rPr lang="en-US" sz="2800">
                    <a:latin typeface="+mj-lt"/>
                  </a:rPr>
                  <a:t>Menggunakan</a:t>
                </a:r>
                <a:r>
                  <a:rPr lang="en-US" sz="2800" smtClean="0">
                    <a:latin typeface="+mj-lt"/>
                  </a:rPr>
                  <a:t> </a:t>
                </a:r>
                <a:r>
                  <a:rPr lang="en-US" sz="2800" b="1">
                    <a:solidFill>
                      <a:srgbClr val="FFFF00"/>
                    </a:solidFill>
                    <a:latin typeface="+mj-lt"/>
                  </a:rPr>
                  <a:t>statistik </a:t>
                </a:r>
                <a:r>
                  <a:rPr lang="en-US" sz="2800">
                    <a:latin typeface="+mj-lt"/>
                  </a:rPr>
                  <a:t>dalam sampel acak yang sesuai (</a:t>
                </a:r>
                <a:r>
                  <a:rPr lang="en-US" sz="2800" smtClean="0">
                    <a:latin typeface="+mj-lt"/>
                  </a:rPr>
                  <a:t>rata-rata (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800" i="1" smtClean="0">
                            <a:latin typeface="Cambria Math"/>
                          </a:rPr>
                        </m:ctrlPr>
                      </m:barPr>
                      <m:e>
                        <m:r>
                          <a:rPr lang="en-US" sz="2800" b="0" i="1" smtClean="0">
                            <a:latin typeface="Cambria Math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 sz="2800" smtClean="0">
                    <a:latin typeface="+mj-lt"/>
                  </a:rPr>
                  <a:t> ), </a:t>
                </a:r>
                <a:r>
                  <a:rPr lang="en-US" sz="2800">
                    <a:latin typeface="+mj-lt"/>
                  </a:rPr>
                  <a:t>standar deviasi </a:t>
                </a:r>
                <a:r>
                  <a:rPr lang="en-US" sz="2800">
                    <a:solidFill>
                      <a:srgbClr val="FFFF00"/>
                    </a:solidFill>
                    <a:latin typeface="+mj-lt"/>
                  </a:rPr>
                  <a:t>s</a:t>
                </a:r>
                <a:r>
                  <a:rPr lang="en-US" sz="2800">
                    <a:latin typeface="+mj-lt"/>
                  </a:rPr>
                  <a:t>, proporsi </a:t>
                </a:r>
                <a:r>
                  <a:rPr lang="en-US" sz="280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800" i="1" smtClean="0">
                            <a:latin typeface="Cambria Math"/>
                          </a:rPr>
                        </m:ctrlPr>
                      </m:barPr>
                      <m:e>
                        <m:r>
                          <a:rPr lang="en-US" sz="2800" i="1">
                            <a:latin typeface="Cambria Math"/>
                          </a:rPr>
                          <m:t>𝑝</m:t>
                        </m:r>
                      </m:e>
                    </m:bar>
                    <m:r>
                      <a:rPr lang="en-US" sz="280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smtClean="0">
                    <a:latin typeface="+mj-lt"/>
                  </a:rPr>
                  <a:t>, </a:t>
                </a:r>
                <a:r>
                  <a:rPr lang="en-US" sz="2800">
                    <a:latin typeface="+mj-lt"/>
                  </a:rPr>
                  <a:t>koefisien korelasi </a:t>
                </a:r>
                <a:r>
                  <a:rPr lang="en-US" sz="2800" smtClean="0">
                    <a:latin typeface="+mj-lt"/>
                  </a:rPr>
                  <a:t> r</a:t>
                </a:r>
                <a:r>
                  <a:rPr lang="en-US" sz="2800">
                    <a:latin typeface="+mj-lt"/>
                  </a:rPr>
                  <a:t>, dsb).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370" t="-2153" r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600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smtClean="0"/>
                  <a:t>Parameter disebut juga </a:t>
                </a:r>
                <a:r>
                  <a:rPr lang="en-US"/>
                  <a:t>true </a:t>
                </a:r>
                <a:r>
                  <a:rPr lang="en-US" smtClean="0"/>
                  <a:t>value (nilai sesungguhnya)</a:t>
                </a:r>
              </a:p>
              <a:p>
                <a:pPr lvl="0"/>
                <a:endParaRPr lang="en-US" smtClean="0"/>
              </a:p>
              <a:p>
                <a:pPr lvl="0"/>
                <a:r>
                  <a:rPr lang="en-US" smtClean="0"/>
                  <a:t>Statistik </a:t>
                </a:r>
                <a:r>
                  <a:rPr lang="en-US"/>
                  <a:t>disebut juga estimate value atau </a:t>
                </a:r>
                <a:r>
                  <a:rPr lang="en-US" smtClean="0"/>
                  <a:t>estimator/penduga.  </a:t>
                </a:r>
              </a:p>
              <a:p>
                <a:pPr lvl="0"/>
                <a:endParaRPr lang="en-US"/>
              </a:p>
              <a:p>
                <a:pPr lvl="0"/>
                <a:r>
                  <a:rPr lang="en-US" smtClean="0"/>
                  <a:t>Jadi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smtClean="0">
                            <a:latin typeface="Cambria Math"/>
                          </a:rPr>
                        </m:ctrlPr>
                      </m:bar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 smtClean="0"/>
                  <a:t> </a:t>
                </a:r>
                <a:r>
                  <a:rPr lang="en-US"/>
                  <a:t>adalah </a:t>
                </a:r>
                <a:r>
                  <a:rPr lang="en-US" smtClean="0"/>
                  <a:t>estimator/penduga </a:t>
                </a:r>
                <a:r>
                  <a:rPr lang="en-US"/>
                  <a:t>untuk </a:t>
                </a:r>
                <a:r>
                  <a:rPr lang="en-US">
                    <a:sym typeface="Symbol"/>
                  </a:rPr>
                  <a:t></a:t>
                </a:r>
                <a:r>
                  <a:rPr lang="en-US"/>
                  <a:t>, s adalah </a:t>
                </a:r>
                <a:r>
                  <a:rPr lang="en-US" smtClean="0"/>
                  <a:t>estimator/penduga </a:t>
                </a:r>
                <a:r>
                  <a:rPr lang="en-US"/>
                  <a:t>untuk </a:t>
                </a:r>
                <a:r>
                  <a:rPr lang="en-US">
                    <a:sym typeface="Symbol"/>
                  </a:rPr>
                  <a:t></a:t>
                </a:r>
                <a:r>
                  <a:rPr lang="en-US"/>
                  <a:t>, dst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1884" r="-593" b="-3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48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Ciri-ciri penduga/estimator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609600" indent="-609600">
              <a:buFont typeface="Wingdings" pitchFamily="2" charset="2"/>
              <a:buAutoNum type="arabicPeriod"/>
            </a:pPr>
            <a:r>
              <a:rPr lang="en-US" smtClean="0"/>
              <a:t>Tidak </a:t>
            </a:r>
            <a:r>
              <a:rPr lang="en-US"/>
              <a:t>Bias (Unbiased) : apabila nilai </a:t>
            </a:r>
            <a:r>
              <a:rPr lang="en-US" smtClean="0"/>
              <a:t> penduga </a:t>
            </a:r>
            <a:r>
              <a:rPr lang="en-US"/>
              <a:t>sama dengan nilai yg diduganya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lang="en-US"/>
              <a:t>Efisien : apabila penduga memiliki varians yg kecil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lang="en-US"/>
              <a:t>Konsisten : </a:t>
            </a:r>
          </a:p>
          <a:p>
            <a:pPr marL="957580" lvl="1" indent="-609600">
              <a:buFont typeface="Wingdings" pitchFamily="2" charset="2"/>
              <a:buAutoNum type="alphaLcPeriod"/>
            </a:pPr>
            <a:r>
              <a:rPr lang="en-US"/>
              <a:t>Jk ukuran sampel semakin bertambah mk penduga akan mendekati parameternya</a:t>
            </a:r>
          </a:p>
          <a:p>
            <a:pPr marL="957580" lvl="1" indent="-609600">
              <a:buFont typeface="Wingdings" pitchFamily="2" charset="2"/>
              <a:buAutoNum type="alphaLcPeriod"/>
            </a:pPr>
            <a:r>
              <a:rPr lang="en-US"/>
              <a:t>Jk ukuran sampel bertambah tak berhingga mk distribusi sampling penduga akan mengecil </a:t>
            </a:r>
            <a:r>
              <a:rPr lang="en-US" smtClean="0"/>
              <a:t>menjadi </a:t>
            </a:r>
            <a:r>
              <a:rPr lang="en-US"/>
              <a:t>tegak lurus di atas parameter yg sebenarnya dgn probabilitas sama dgn satu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53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Jenis Estimasi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lvl="0"/>
                <a:r>
                  <a:rPr lang="en-US" smtClean="0"/>
                  <a:t>Estimasi </a:t>
                </a:r>
                <a:r>
                  <a:rPr lang="en-US"/>
                  <a:t>titik (point estimation) </a:t>
                </a:r>
                <a:endParaRPr lang="en-US" smtClean="0"/>
              </a:p>
              <a:p>
                <a:pPr lvl="1"/>
                <a:r>
                  <a:rPr lang="en-US" smtClean="0"/>
                  <a:t>Mengestimasi </a:t>
                </a:r>
                <a:r>
                  <a:rPr lang="en-US"/>
                  <a:t>suatu parameter berdasarkan satu nilai </a:t>
                </a:r>
                <a:r>
                  <a:rPr lang="en-US" smtClean="0"/>
                  <a:t>saja. Misal </a:t>
                </a:r>
              </a:p>
              <a:p>
                <a:pPr lvl="1"/>
                <a:r>
                  <a:rPr lang="en-US">
                    <a:sym typeface="Symbol"/>
                  </a:rPr>
                  <a:t></a:t>
                </a:r>
                <a:r>
                  <a:rPr lang="en-US"/>
                  <a:t> dengan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smtClean="0">
                            <a:latin typeface="Cambria Math"/>
                          </a:rPr>
                        </m:ctrlPr>
                      </m:bar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 smtClean="0"/>
                  <a:t> </a:t>
                </a:r>
                <a:r>
                  <a:rPr lang="en-US">
                    <a:sym typeface="Symbol"/>
                  </a:rPr>
                  <a:t></a:t>
                </a:r>
                <a:r>
                  <a:rPr lang="en-US"/>
                  <a:t> </a:t>
                </a:r>
                <a:r>
                  <a:rPr lang="en-US">
                    <a:sym typeface="Symbol"/>
                  </a:rPr>
                  <a:t></a:t>
                </a:r>
                <a:r>
                  <a:rPr lang="en-US"/>
                  <a:t> =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>
                            <a:latin typeface="Cambria Math"/>
                          </a:rPr>
                        </m:ctrlPr>
                      </m:bar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/>
                  <a:t> </a:t>
                </a:r>
                <a:r>
                  <a:rPr lang="en-US" smtClean="0"/>
                  <a:t> (tidak memberikan tingkat keyakinan</a:t>
                </a:r>
              </a:p>
              <a:p>
                <a:pPr lvl="1"/>
                <a:endParaRPr lang="en-US" smtClean="0"/>
              </a:p>
              <a:p>
                <a:pPr lvl="0"/>
                <a:r>
                  <a:rPr lang="en-US" smtClean="0"/>
                  <a:t>Etimasi </a:t>
                </a:r>
                <a:r>
                  <a:rPr lang="en-US"/>
                  <a:t>interval (interval estimation</a:t>
                </a:r>
                <a:r>
                  <a:rPr lang="en-US" smtClean="0"/>
                  <a:t>).</a:t>
                </a:r>
              </a:p>
              <a:p>
                <a:pPr lvl="1"/>
                <a:r>
                  <a:rPr lang="en-US"/>
                  <a:t>Mengestimasi suatu parameter berdasarkan banyak nilai dalam suatu interval tertentu, sehingga hasil estimasi interval akan memberikan tingkat keyakinan tertentu.  </a:t>
                </a:r>
                <a:endParaRPr lang="en-US" smtClean="0"/>
              </a:p>
              <a:p>
                <a:pPr lvl="1"/>
                <a:r>
                  <a:rPr lang="en-US" smtClean="0"/>
                  <a:t>Misal  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>
                            <a:latin typeface="Cambria Math"/>
                          </a:rPr>
                        </m:ctrlPr>
                      </m:bar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 smtClean="0"/>
                  <a:t>-d </a:t>
                </a:r>
                <a:r>
                  <a:rPr lang="en-US" smtClean="0">
                    <a:sym typeface="Symbol"/>
                  </a:rPr>
                  <a:t>  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>
                            <a:latin typeface="Cambria Math"/>
                          </a:rPr>
                        </m:ctrlPr>
                      </m:bar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bar>
                    <m:r>
                      <a:rPr lang="en-US" b="0" i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US"/>
                  <a:t>d </a:t>
                </a:r>
                <a:r>
                  <a:rPr lang="en-US" smtClean="0"/>
                  <a:t> (d adalah nilai galat atau error estimasi </a:t>
                </a:r>
                <a:endParaRPr lang="en-US"/>
              </a:p>
              <a:p>
                <a:pPr lvl="0"/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3903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538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Besar galat (d)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lvl="0"/>
                <a:r>
                  <a:rPr lang="en-US" smtClean="0"/>
                  <a:t>Besarnya d akan tergantung pada </a:t>
                </a:r>
                <a:r>
                  <a:rPr lang="en-US"/>
                  <a:t>: </a:t>
                </a:r>
                <a:endParaRPr lang="en-US" smtClean="0"/>
              </a:p>
              <a:p>
                <a:pPr marL="862330" lvl="1" indent="-514350">
                  <a:buFont typeface="+mj-lt"/>
                  <a:buAutoNum type="arabicPeriod"/>
                </a:pPr>
                <a:r>
                  <a:rPr lang="en-US" smtClean="0"/>
                  <a:t>ukuran </a:t>
                </a:r>
                <a:r>
                  <a:rPr lang="en-US"/>
                  <a:t>sampel acak yang digunakan, </a:t>
                </a:r>
              </a:p>
              <a:p>
                <a:pPr marL="862330" lvl="1" indent="-514350">
                  <a:buFont typeface="+mj-lt"/>
                  <a:buAutoNum type="arabicPeriod"/>
                </a:pPr>
                <a:r>
                  <a:rPr lang="en-US" smtClean="0"/>
                  <a:t>tingkat </a:t>
                </a:r>
                <a:r>
                  <a:rPr lang="en-US"/>
                  <a:t>keyakinan (level of confidence), dan </a:t>
                </a:r>
              </a:p>
              <a:p>
                <a:pPr marL="862330" lvl="1" indent="-514350">
                  <a:buFont typeface="+mj-lt"/>
                  <a:buAutoNum type="arabicPeriod"/>
                </a:pPr>
                <a:r>
                  <a:rPr lang="en-US" smtClean="0"/>
                  <a:t>distribusi </a:t>
                </a:r>
                <a:r>
                  <a:rPr lang="en-US"/>
                  <a:t>probabilitas untuk statistik (estimate value) yang digunakan.  </a:t>
                </a:r>
                <a:endParaRPr lang="en-US" smtClean="0"/>
              </a:p>
              <a:p>
                <a:pPr marL="347980" lvl="1" indent="0">
                  <a:buNone/>
                </a:pPr>
                <a:endParaRPr lang="en-US" smtClean="0"/>
              </a:p>
              <a:p>
                <a:pPr marL="347980" lvl="1" indent="0">
                  <a:buNone/>
                </a:pPr>
                <a:r>
                  <a:rPr lang="en-US" smtClean="0"/>
                  <a:t>Sehingga </a:t>
                </a:r>
                <a:r>
                  <a:rPr lang="en-US"/>
                  <a:t>interval </a:t>
                </a:r>
                <a:r>
                  <a:rPr lang="en-US" smtClean="0"/>
                  <a:t>kepercayaan  </a:t>
                </a:r>
                <a:r>
                  <a:rPr lang="en-US"/>
                  <a:t>untuk estimasi suatu parameter, misalnya </a:t>
                </a:r>
                <a:r>
                  <a:rPr lang="en-US">
                    <a:sym typeface="Symbol"/>
                  </a:rPr>
                  <a:t></a:t>
                </a:r>
                <a:r>
                  <a:rPr lang="en-US"/>
                  <a:t> dapat dituliskan sebagai : P(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smtClean="0">
                            <a:latin typeface="Cambria Math"/>
                          </a:rPr>
                        </m:ctrlPr>
                      </m:bar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 smtClean="0"/>
                  <a:t> </a:t>
                </a:r>
                <a:r>
                  <a:rPr lang="en-US"/>
                  <a:t>− d  </a:t>
                </a:r>
                <a:r>
                  <a:rPr lang="en-US">
                    <a:sym typeface="Symbol"/>
                  </a:rPr>
                  <a:t></a:t>
                </a:r>
                <a:r>
                  <a:rPr lang="en-US"/>
                  <a:t> </a:t>
                </a:r>
                <a:r>
                  <a:rPr lang="en-US">
                    <a:sym typeface="Symbol"/>
                  </a:rPr>
                  <a:t></a:t>
                </a:r>
                <a:r>
                  <a:rPr lang="en-US"/>
                  <a:t> </a:t>
                </a:r>
                <a:r>
                  <a:rPr lang="en-US">
                    <a:sym typeface="Symbol"/>
                  </a:rPr>
                  <a:t>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>
                            <a:latin typeface="Cambria Math"/>
                          </a:rPr>
                        </m:ctrlPr>
                      </m:bar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/>
                  <a:t> </a:t>
                </a:r>
                <a:r>
                  <a:rPr lang="en-US" smtClean="0">
                    <a:sym typeface="Symbol"/>
                  </a:rPr>
                  <a:t></a:t>
                </a:r>
                <a:r>
                  <a:rPr lang="en-US" smtClean="0"/>
                  <a:t> </a:t>
                </a:r>
                <a:r>
                  <a:rPr lang="en-US"/>
                  <a:t>d) = 1 − </a:t>
                </a:r>
                <a:r>
                  <a:rPr lang="en-US">
                    <a:sym typeface="Symbol"/>
                  </a:rPr>
                  <a:t></a:t>
                </a:r>
                <a:endParaRPr lang="en-US"/>
              </a:p>
              <a:p>
                <a:pPr lvl="2"/>
                <a:r>
                  <a:rPr lang="en-US"/>
                  <a:t>1 − </a:t>
                </a:r>
                <a:r>
                  <a:rPr lang="en-US">
                    <a:sym typeface="Symbol"/>
                  </a:rPr>
                  <a:t></a:t>
                </a:r>
                <a:r>
                  <a:rPr lang="en-US"/>
                  <a:t> adalah level of confidence (tingkat keyakinan</a:t>
                </a:r>
                <a:r>
                  <a:rPr lang="en-US" smtClean="0"/>
                  <a:t>) yang nilainya antara 0 sampai 1</a:t>
                </a:r>
              </a:p>
              <a:p>
                <a:pPr lvl="2"/>
                <a:r>
                  <a:rPr lang="en-US" sz="2000">
                    <a:latin typeface="Comic Sans MS" pitchFamily="66" charset="0"/>
                  </a:rPr>
                  <a:t>Selang kepercayaan : (1-α) x 100%</a:t>
                </a:r>
              </a:p>
              <a:p>
                <a:pPr lvl="2"/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2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116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Jenis-jenis </a:t>
            </a:r>
            <a:r>
              <a:rPr lang="en-US" smtClean="0"/>
              <a:t>estimasi parameternya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>
                <a:solidFill>
                  <a:srgbClr val="FFFF00"/>
                </a:solidFill>
              </a:rPr>
              <a:t>Estimasi rata-rata</a:t>
            </a:r>
            <a:endParaRPr lang="en-US" b="1">
              <a:solidFill>
                <a:srgbClr val="FFFF00"/>
              </a:solidFill>
            </a:endParaRPr>
          </a:p>
          <a:p>
            <a:r>
              <a:rPr lang="en-US" b="1">
                <a:solidFill>
                  <a:schemeClr val="bg1">
                    <a:lumMod val="10000"/>
                    <a:lumOff val="90000"/>
                  </a:schemeClr>
                </a:solidFill>
              </a:rPr>
              <a:t>Estimasi </a:t>
            </a:r>
            <a:r>
              <a:rPr lang="en-US" smtClean="0">
                <a:solidFill>
                  <a:schemeClr val="bg1">
                    <a:lumMod val="10000"/>
                    <a:lumOff val="90000"/>
                  </a:schemeClr>
                </a:solidFill>
              </a:rPr>
              <a:t>proporsi</a:t>
            </a:r>
            <a:endParaRPr lang="en-US">
              <a:solidFill>
                <a:schemeClr val="bg1">
                  <a:lumMod val="10000"/>
                  <a:lumOff val="90000"/>
                </a:schemeClr>
              </a:solidFill>
            </a:endParaRPr>
          </a:p>
          <a:p>
            <a:r>
              <a:rPr lang="en-US" b="1">
                <a:solidFill>
                  <a:schemeClr val="bg1">
                    <a:lumMod val="10000"/>
                    <a:lumOff val="90000"/>
                  </a:schemeClr>
                </a:solidFill>
              </a:rPr>
              <a:t>Estimasi </a:t>
            </a:r>
            <a:r>
              <a:rPr lang="en-US" smtClean="0">
                <a:solidFill>
                  <a:schemeClr val="bg1">
                    <a:lumMod val="10000"/>
                    <a:lumOff val="90000"/>
                  </a:schemeClr>
                </a:solidFill>
              </a:rPr>
              <a:t>varians</a:t>
            </a:r>
            <a:endParaRPr lang="en-US">
              <a:solidFill>
                <a:schemeClr val="bg1">
                  <a:lumMod val="10000"/>
                  <a:lumOff val="90000"/>
                </a:schemeClr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2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FFFF00"/>
                </a:solidFill>
              </a:rPr>
              <a:t>Estimasi </a:t>
            </a:r>
            <a:r>
              <a:rPr lang="en-US" b="1" smtClean="0">
                <a:solidFill>
                  <a:srgbClr val="FFFF00"/>
                </a:solidFill>
              </a:rPr>
              <a:t>rata-rata (</a:t>
            </a:r>
            <a:r>
              <a:rPr lang="en-US" b="1" smtClean="0">
                <a:solidFill>
                  <a:srgbClr val="FFFF00"/>
                </a:solidFill>
                <a:sym typeface="Symbol"/>
              </a:rPr>
              <a:t>)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Kasus Sample besar (</a:t>
            </a:r>
            <a:r>
              <a:rPr lang="en-US" sz="280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</a:t>
            </a:r>
            <a:r>
              <a:rPr lang="en-US" sz="280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 </a:t>
            </a:r>
            <a:r>
              <a:rPr lang="en-US" sz="280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30</a:t>
            </a:r>
            <a:r>
              <a:rPr lang="en-US" sz="2800" smtClean="0"/>
              <a:t>)</a:t>
            </a:r>
          </a:p>
          <a:p>
            <a:pPr lvl="1"/>
            <a:r>
              <a:rPr lang="en-US"/>
              <a:t>Untuk Infinite </a:t>
            </a:r>
            <a:r>
              <a:rPr lang="en-US" smtClean="0"/>
              <a:t>Population</a:t>
            </a:r>
          </a:p>
          <a:p>
            <a:pPr lvl="1"/>
            <a:endParaRPr lang="en-US"/>
          </a:p>
          <a:p>
            <a:pPr lvl="1"/>
            <a:endParaRPr lang="en-US" smtClean="0"/>
          </a:p>
          <a:p>
            <a:pPr lvl="1"/>
            <a:endParaRPr lang="en-US"/>
          </a:p>
          <a:p>
            <a:pPr lvl="1"/>
            <a:endParaRPr lang="en-US" smtClean="0"/>
          </a:p>
          <a:p>
            <a:pPr marL="822960" lvl="3" indent="-457200">
              <a:spcBef>
                <a:spcPts val="0"/>
              </a:spcBef>
              <a:buClr>
                <a:schemeClr val="accent1"/>
              </a:buClr>
              <a:buSzPct val="70000"/>
            </a:pPr>
            <a:r>
              <a:rPr lang="en-US" sz="2800" smtClean="0">
                <a:solidFill>
                  <a:srgbClr val="FFFF00"/>
                </a:solidFill>
              </a:rPr>
              <a:t>Untuk finite population</a:t>
            </a:r>
            <a:endParaRPr lang="en-US">
              <a:solidFill>
                <a:srgbClr val="FFFF00"/>
              </a:solidFill>
            </a:endParaRPr>
          </a:p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720994"/>
              </p:ext>
            </p:extLst>
          </p:nvPr>
        </p:nvGraphicFramePr>
        <p:xfrm>
          <a:off x="1219200" y="2667000"/>
          <a:ext cx="75311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6" name="Equation" r:id="rId3" imgW="4000320" imgH="406080" progId="Equation.DSMT4">
                  <p:embed/>
                </p:oleObj>
              </mc:Choice>
              <mc:Fallback>
                <p:oleObj name="Equation" r:id="rId3" imgW="4000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9200" y="2667000"/>
                        <a:ext cx="7531100" cy="660400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549842"/>
              </p:ext>
            </p:extLst>
          </p:nvPr>
        </p:nvGraphicFramePr>
        <p:xfrm>
          <a:off x="1219200" y="3457028"/>
          <a:ext cx="4953000" cy="683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7" name="Equation" r:id="rId5" imgW="2946240" imgH="406080" progId="Equation.DSMT4">
                  <p:embed/>
                </p:oleObj>
              </mc:Choice>
              <mc:Fallback>
                <p:oleObj name="Equation" r:id="rId5" imgW="29462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9200" y="3457028"/>
                        <a:ext cx="4953000" cy="683172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450255"/>
              </p:ext>
            </p:extLst>
          </p:nvPr>
        </p:nvGraphicFramePr>
        <p:xfrm>
          <a:off x="1066800" y="4876800"/>
          <a:ext cx="79438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8" name="Equation" r:id="rId7" imgW="5041800" imgH="507960" progId="Equation.DSMT4">
                  <p:embed/>
                </p:oleObj>
              </mc:Choice>
              <mc:Fallback>
                <p:oleObj name="Equation" r:id="rId7" imgW="504180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66800" y="4876800"/>
                        <a:ext cx="7943850" cy="7366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48960"/>
              </p:ext>
            </p:extLst>
          </p:nvPr>
        </p:nvGraphicFramePr>
        <p:xfrm>
          <a:off x="1066800" y="5791200"/>
          <a:ext cx="7010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9" name="Equation" r:id="rId9" imgW="3936960" imgH="507960" progId="Equation.DSMT4">
                  <p:embed/>
                </p:oleObj>
              </mc:Choice>
              <mc:Fallback>
                <p:oleObj name="Equation" r:id="rId9" imgW="39369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66800" y="5791200"/>
                        <a:ext cx="7010400" cy="762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263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Soal</a:t>
            </a:r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06" y="3919539"/>
            <a:ext cx="8482012" cy="170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09800"/>
            <a:ext cx="9074334" cy="138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4333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FF00"/>
                </a:solidFill>
              </a:rPr>
              <a:t>Estimasi rata-rata (</a:t>
            </a:r>
            <a:r>
              <a:rPr lang="en-US" b="1">
                <a:solidFill>
                  <a:srgbClr val="FFFF00"/>
                </a:solidFill>
                <a:sym typeface="Symbol"/>
              </a:rPr>
              <a:t></a:t>
            </a:r>
            <a:r>
              <a:rPr lang="en-US" b="1" smtClean="0">
                <a:solidFill>
                  <a:srgbClr val="FFFF00"/>
                </a:solidFill>
                <a:sym typeface="Symbol"/>
              </a:rPr>
              <a:t>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b="1"/>
              <a:t>Kasus Sampel Kecil (n </a:t>
            </a:r>
            <a:r>
              <a:rPr lang="en-US" sz="2600" b="1">
                <a:sym typeface="Symbol"/>
              </a:rPr>
              <a:t></a:t>
            </a:r>
            <a:r>
              <a:rPr lang="en-US" sz="2600" b="1"/>
              <a:t> 30) dan atau </a:t>
            </a:r>
            <a:r>
              <a:rPr lang="en-US" sz="2600" b="1">
                <a:sym typeface="Symbol"/>
              </a:rPr>
              <a:t></a:t>
            </a:r>
            <a:r>
              <a:rPr lang="en-US" sz="2600" b="1"/>
              <a:t> tidak diketahui</a:t>
            </a:r>
            <a:endParaRPr lang="en-US" sz="2600"/>
          </a:p>
          <a:p>
            <a:pPr lvl="1"/>
            <a:r>
              <a:rPr lang="en-US"/>
              <a:t>Untuk Infinite Population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lvl="1"/>
            <a:r>
              <a:rPr lang="en-US"/>
              <a:t>Untuk Finite Population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dengan df = n − 1</a:t>
            </a:r>
          </a:p>
          <a:p>
            <a:pPr marL="0" indent="0">
              <a:buNone/>
            </a:pPr>
            <a:r>
              <a:rPr lang="en-US"/>
              <a:t>    </a:t>
            </a:r>
          </a:p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624422"/>
              </p:ext>
            </p:extLst>
          </p:nvPr>
        </p:nvGraphicFramePr>
        <p:xfrm>
          <a:off x="1143000" y="2743200"/>
          <a:ext cx="7543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0" name="Equation" r:id="rId3" imgW="3073320" imgH="406080" progId="Equation.DSMT4">
                  <p:embed/>
                </p:oleObj>
              </mc:Choice>
              <mc:Fallback>
                <p:oleObj name="Equation" r:id="rId3" imgW="3073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0" y="2743200"/>
                        <a:ext cx="7543800" cy="838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151997"/>
              </p:ext>
            </p:extLst>
          </p:nvPr>
        </p:nvGraphicFramePr>
        <p:xfrm>
          <a:off x="1143000" y="4114800"/>
          <a:ext cx="7543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" name="Equation" r:id="rId5" imgW="4063680" imgH="507960" progId="Equation.DSMT4">
                  <p:embed/>
                </p:oleObj>
              </mc:Choice>
              <mc:Fallback>
                <p:oleObj name="Equation" r:id="rId5" imgW="40636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3000" y="4114800"/>
                        <a:ext cx="7543800" cy="914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80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/>
              <a:t>Telah diambil secara acak sampel yang terdiri dari 100 orang </a:t>
            </a:r>
            <a:r>
              <a:rPr lang="en-US" smtClean="0"/>
              <a:t>mahasiswa teknik informatika </a:t>
            </a:r>
            <a:r>
              <a:rPr lang="en-US"/>
              <a:t>universitas </a:t>
            </a:r>
            <a:r>
              <a:rPr lang="en-US" smtClean="0"/>
              <a:t>Trunojoyo.  </a:t>
            </a:r>
            <a:r>
              <a:rPr lang="en-US"/>
              <a:t>Melalui test IQ terhadap 100 mahasiswa tersebut diperoleh rata-rata IQ sebesar 112 dan varians 100.  Dengan menggunakan tingkat keyakinan (</a:t>
            </a:r>
            <a:r>
              <a:rPr lang="en-US" i="1"/>
              <a:t>confidence level</a:t>
            </a:r>
            <a:r>
              <a:rPr lang="en-US"/>
              <a:t>) sebesar 95%, tentukan interval konfidens untuk nilai rata-rata IQ seluruh mahasiswa </a:t>
            </a:r>
            <a:r>
              <a:rPr lang="en-US" smtClean="0"/>
              <a:t>Teknik Informatika UTM.</a:t>
            </a:r>
          </a:p>
          <a:p>
            <a:pPr lvl="0"/>
            <a:endParaRPr lang="en-US" smtClean="0"/>
          </a:p>
          <a:p>
            <a:pPr marL="514350" lvl="0" indent="-514350">
              <a:buFont typeface="+mj-lt"/>
              <a:buAutoNum type="arabicPeriod" startAt="2"/>
            </a:pPr>
            <a:r>
              <a:rPr lang="en-US"/>
              <a:t>Seorang petani </a:t>
            </a:r>
            <a:r>
              <a:rPr lang="en-US" smtClean="0"/>
              <a:t>mangga  </a:t>
            </a:r>
            <a:r>
              <a:rPr lang="en-US"/>
              <a:t>ingin mengetahui rata-rata berat buah </a:t>
            </a:r>
            <a:r>
              <a:rPr lang="en-US" smtClean="0"/>
              <a:t>mangga </a:t>
            </a:r>
            <a:r>
              <a:rPr lang="en-US"/>
              <a:t>hasil kebunnya.  Untuk itu, diambil sampel secara acak 10 buah apel dengan berat masing-masing (gram) : 142, 157, 138, 175, 152, 149, 148, 200, 182, dan 164.  Jika petani tersebut merasa yakin 95% bahwa rata-rata berat buah </a:t>
            </a:r>
            <a:r>
              <a:rPr lang="en-US" smtClean="0"/>
              <a:t>mangga  akan </a:t>
            </a:r>
            <a:r>
              <a:rPr lang="en-US"/>
              <a:t>tercakup dalam interval estimasi, maka tentukanlah interval estimasinya tersebut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13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Sebuah populasi yang berdistribusi Normal terdiri dari 1000 data mempunyai simpangan baku 5,75.  Kemudian diambil sampel acak berukuran 80 data dengan rata-rata 68,6.  Tentukan interval keyakinan 95% untuk rata-rata populasi tersebut.</a:t>
            </a:r>
          </a:p>
          <a:p>
            <a:r>
              <a:rPr lang="en-U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22136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Custom 6">
      <a:dk1>
        <a:srgbClr val="181818"/>
      </a:dk1>
      <a:lt1>
        <a:srgbClr val="F2F2F2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499</TotalTime>
  <Words>580</Words>
  <Application>Microsoft Office PowerPoint</Application>
  <PresentationFormat>On-screen Show (4:3)</PresentationFormat>
  <Paragraphs>70</Paragraphs>
  <Slides>13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Foundry</vt:lpstr>
      <vt:lpstr>MathType 6.0 Equation</vt:lpstr>
      <vt:lpstr>Equation</vt:lpstr>
      <vt:lpstr>Estimasi Parameter</vt:lpstr>
      <vt:lpstr>PowerPoint Presentation</vt:lpstr>
      <vt:lpstr>PowerPoint Presentation</vt:lpstr>
      <vt:lpstr>PowerPoint Presentation</vt:lpstr>
      <vt:lpstr>Ciri-ciri penduga/estimator</vt:lpstr>
      <vt:lpstr>Jenis Estimasi</vt:lpstr>
      <vt:lpstr>Besar galat (d)</vt:lpstr>
      <vt:lpstr>Jenis-jenis estimasi parameternya</vt:lpstr>
      <vt:lpstr>Estimasi rata-rata ()</vt:lpstr>
      <vt:lpstr>Soal</vt:lpstr>
      <vt:lpstr>Estimasi rata-rata ()</vt:lpstr>
      <vt:lpstr>Soal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Estimasi Paramter</dc:title>
  <dc:creator>mulaab</dc:creator>
  <cp:lastModifiedBy>mulaab</cp:lastModifiedBy>
  <cp:revision>38</cp:revision>
  <dcterms:created xsi:type="dcterms:W3CDTF">2016-05-08T00:59:57Z</dcterms:created>
  <dcterms:modified xsi:type="dcterms:W3CDTF">2022-05-26T03:28:27Z</dcterms:modified>
</cp:coreProperties>
</file>